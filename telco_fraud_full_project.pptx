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253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-465044"/>
            <a:ext cx="7288231" cy="891269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sz="1800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sz="1800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sz="1800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sz="1800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sz="1800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sz="1800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sz="1800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sz="1800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sz="1800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sz="1800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sz="1800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lang="en-IN" sz="1800" b="1" spc="-10" dirty="0">
              <a:latin typeface="Arial"/>
              <a:cs typeface="Arial"/>
            </a:endParaRPr>
          </a:p>
          <a:p>
            <a:pPr marL="12700" marR="5080" indent="120650">
              <a:lnSpc>
                <a:spcPct val="129600"/>
              </a:lnSpc>
              <a:spcBef>
                <a:spcPts val="100"/>
              </a:spcBef>
            </a:pP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900" y="2002719"/>
            <a:ext cx="3212922" cy="90762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965325" algn="l"/>
              </a:tabLst>
            </a:pPr>
            <a:r>
              <a:rPr sz="1000" dirty="0">
                <a:latin typeface="Arial MT"/>
                <a:cs typeface="Arial MT"/>
              </a:rPr>
              <a:t>Prepared for: Data Science / Machine Learning </a:t>
            </a:r>
            <a:r>
              <a:rPr sz="1000" spc="-10" dirty="0">
                <a:latin typeface="Arial MT"/>
                <a:cs typeface="Arial MT"/>
              </a:rPr>
              <a:t>Project </a:t>
            </a:r>
            <a:r>
              <a:rPr sz="1000" dirty="0">
                <a:latin typeface="Arial MT"/>
                <a:cs typeface="Arial MT"/>
              </a:rPr>
              <a:t>Student: 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endParaRPr sz="1000">
              <a:latin typeface="Arial MT"/>
              <a:cs typeface="Arial MT"/>
            </a:endParaRPr>
          </a:p>
          <a:p>
            <a:pPr marL="12700" marR="1144270">
              <a:lnSpc>
                <a:spcPct val="150000"/>
              </a:lnSpc>
              <a:tabLst>
                <a:tab pos="1859280" algn="l"/>
                <a:tab pos="1950720" algn="l"/>
              </a:tabLst>
            </a:pPr>
            <a:r>
              <a:rPr sz="1000" dirty="0">
                <a:latin typeface="Arial MT"/>
                <a:cs typeface="Arial MT"/>
              </a:rPr>
              <a:t>Class/Section: 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	</a:t>
            </a:r>
            <a:r>
              <a:rPr sz="1000" dirty="0">
                <a:latin typeface="Arial MT"/>
                <a:cs typeface="Arial MT"/>
              </a:rPr>
              <a:t> Institution: 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7900" y="5852936"/>
            <a:ext cx="3227382" cy="16671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dirty="0">
                <a:latin typeface="Arial"/>
                <a:cs typeface="Arial"/>
              </a:rPr>
              <a:t>Prepared using real dataset: telco x customer </a:t>
            </a:r>
            <a:r>
              <a:rPr sz="1000" i="1" spc="-10" dirty="0">
                <a:latin typeface="Arial"/>
                <a:cs typeface="Arial"/>
              </a:rPr>
              <a:t>data.xlsx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6999" y="598533"/>
            <a:ext cx="7453873" cy="8653731"/>
            <a:chOff x="127000" y="1745413"/>
            <a:chExt cx="7200900" cy="7506851"/>
          </a:xfrm>
          <a:solidFill>
            <a:schemeClr val="bg1"/>
          </a:solidFill>
        </p:grpSpPr>
        <p:sp>
          <p:nvSpPr>
            <p:cNvPr id="6" name="object 6"/>
            <p:cNvSpPr/>
            <p:nvPr/>
          </p:nvSpPr>
          <p:spPr>
            <a:xfrm>
              <a:off x="596210" y="1745413"/>
              <a:ext cx="6520180" cy="6774180"/>
            </a:xfrm>
            <a:custGeom>
              <a:avLst/>
              <a:gdLst/>
              <a:ahLst/>
              <a:cxnLst/>
              <a:rect l="l" t="t" r="r" b="b"/>
              <a:pathLst>
                <a:path w="6520180" h="6774180">
                  <a:moveTo>
                    <a:pt x="6519872" y="0"/>
                  </a:moveTo>
                  <a:lnTo>
                    <a:pt x="0" y="0"/>
                  </a:lnTo>
                  <a:lnTo>
                    <a:pt x="0" y="6773655"/>
                  </a:lnTo>
                  <a:lnTo>
                    <a:pt x="6519872" y="6773655"/>
                  </a:lnTo>
                  <a:lnTo>
                    <a:pt x="651987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000" y="1879600"/>
              <a:ext cx="6502400" cy="3251200"/>
            </a:xfrm>
            <a:prstGeom prst="rect">
              <a:avLst/>
            </a:prstGeom>
            <a:grpFill/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000" y="6113755"/>
              <a:ext cx="7200900" cy="3138509"/>
            </a:xfrm>
            <a:prstGeom prst="rect">
              <a:avLst/>
            </a:prstGeom>
            <a:grpFill/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8200" y="8382000"/>
              <a:ext cx="3251200" cy="800100"/>
            </a:xfrm>
            <a:prstGeom prst="rect">
              <a:avLst/>
            </a:prstGeom>
            <a:grpFill/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EBEB80-AA55-2C25-21AF-3EF81204E7C8}"/>
              </a:ext>
            </a:extLst>
          </p:cNvPr>
          <p:cNvGrpSpPr>
            <a:grpSpLocks/>
          </p:cNvGrpSpPr>
          <p:nvPr/>
        </p:nvGrpSpPr>
        <p:grpSpPr>
          <a:xfrm>
            <a:off x="304800" y="-1237139"/>
            <a:ext cx="7200809" cy="11634629"/>
            <a:chOff x="0" y="0"/>
            <a:chExt cx="6956425" cy="10092690"/>
          </a:xfrm>
          <a:solidFill>
            <a:schemeClr val="bg1"/>
          </a:solidFill>
        </p:grpSpPr>
        <p:sp>
          <p:nvSpPr>
            <p:cNvPr id="12" name="Graphic 3">
              <a:extLst>
                <a:ext uri="{FF2B5EF4-FFF2-40B4-BE49-F238E27FC236}">
                  <a16:creationId xmlns:a16="http://schemas.microsoft.com/office/drawing/2014/main" id="{73431275-DECF-6F3E-EEFC-B5CE62ECCE82}"/>
                </a:ext>
              </a:extLst>
            </p:cNvPr>
            <p:cNvSpPr/>
            <p:nvPr/>
          </p:nvSpPr>
          <p:spPr>
            <a:xfrm>
              <a:off x="-7" y="9"/>
              <a:ext cx="6956425" cy="10092690"/>
            </a:xfrm>
            <a:custGeom>
              <a:avLst/>
              <a:gdLst/>
              <a:ahLst/>
              <a:cxnLst/>
              <a:rect l="l" t="t" r="r" b="b"/>
              <a:pathLst>
                <a:path w="6956425" h="10092690">
                  <a:moveTo>
                    <a:pt x="6917855" y="10082771"/>
                  </a:moveTo>
                  <a:lnTo>
                    <a:pt x="38112" y="10082771"/>
                  </a:lnTo>
                  <a:lnTo>
                    <a:pt x="19062" y="10082771"/>
                  </a:lnTo>
                  <a:lnTo>
                    <a:pt x="19062" y="10054184"/>
                  </a:lnTo>
                  <a:lnTo>
                    <a:pt x="19062" y="38125"/>
                  </a:lnTo>
                  <a:lnTo>
                    <a:pt x="0" y="38125"/>
                  </a:lnTo>
                  <a:lnTo>
                    <a:pt x="0" y="10054184"/>
                  </a:lnTo>
                  <a:lnTo>
                    <a:pt x="0" y="10082771"/>
                  </a:lnTo>
                  <a:lnTo>
                    <a:pt x="0" y="10092296"/>
                  </a:lnTo>
                  <a:lnTo>
                    <a:pt x="19062" y="10092296"/>
                  </a:lnTo>
                  <a:lnTo>
                    <a:pt x="38112" y="10092296"/>
                  </a:lnTo>
                  <a:lnTo>
                    <a:pt x="6917855" y="10082771"/>
                  </a:lnTo>
                  <a:close/>
                </a:path>
                <a:path w="6956425" h="10092690">
                  <a:moveTo>
                    <a:pt x="6917855" y="28587"/>
                  </a:moveTo>
                  <a:lnTo>
                    <a:pt x="38112" y="28587"/>
                  </a:lnTo>
                  <a:lnTo>
                    <a:pt x="28587" y="28587"/>
                  </a:lnTo>
                  <a:lnTo>
                    <a:pt x="28587" y="38112"/>
                  </a:lnTo>
                  <a:lnTo>
                    <a:pt x="38112" y="38112"/>
                  </a:lnTo>
                  <a:lnTo>
                    <a:pt x="6917855" y="28587"/>
                  </a:lnTo>
                  <a:close/>
                </a:path>
                <a:path w="6956425" h="10092690">
                  <a:moveTo>
                    <a:pt x="6936905" y="38125"/>
                  </a:moveTo>
                  <a:lnTo>
                    <a:pt x="6917855" y="38125"/>
                  </a:lnTo>
                  <a:lnTo>
                    <a:pt x="6917855" y="10054184"/>
                  </a:lnTo>
                  <a:lnTo>
                    <a:pt x="38112" y="10054184"/>
                  </a:lnTo>
                  <a:lnTo>
                    <a:pt x="28587" y="38112"/>
                  </a:lnTo>
                  <a:lnTo>
                    <a:pt x="28587" y="10054184"/>
                  </a:lnTo>
                  <a:lnTo>
                    <a:pt x="28587" y="10073246"/>
                  </a:lnTo>
                  <a:lnTo>
                    <a:pt x="38112" y="10073246"/>
                  </a:lnTo>
                  <a:lnTo>
                    <a:pt x="6917855" y="10073246"/>
                  </a:lnTo>
                  <a:lnTo>
                    <a:pt x="6936905" y="10073246"/>
                  </a:lnTo>
                  <a:lnTo>
                    <a:pt x="6936905" y="10054184"/>
                  </a:lnTo>
                  <a:lnTo>
                    <a:pt x="6936905" y="38125"/>
                  </a:lnTo>
                  <a:close/>
                </a:path>
                <a:path w="6956425" h="10092690">
                  <a:moveTo>
                    <a:pt x="6936905" y="28587"/>
                  </a:moveTo>
                  <a:lnTo>
                    <a:pt x="6917855" y="28587"/>
                  </a:lnTo>
                  <a:lnTo>
                    <a:pt x="6917855" y="38112"/>
                  </a:lnTo>
                  <a:lnTo>
                    <a:pt x="6936905" y="38112"/>
                  </a:lnTo>
                  <a:lnTo>
                    <a:pt x="6936905" y="28587"/>
                  </a:lnTo>
                  <a:close/>
                </a:path>
                <a:path w="6956425" h="10092690">
                  <a:moveTo>
                    <a:pt x="6955968" y="10054184"/>
                  </a:moveTo>
                  <a:lnTo>
                    <a:pt x="6946443" y="38112"/>
                  </a:lnTo>
                  <a:lnTo>
                    <a:pt x="6946443" y="10054184"/>
                  </a:lnTo>
                  <a:lnTo>
                    <a:pt x="6946443" y="10082771"/>
                  </a:lnTo>
                  <a:lnTo>
                    <a:pt x="6917855" y="10082771"/>
                  </a:lnTo>
                  <a:lnTo>
                    <a:pt x="6917855" y="10092296"/>
                  </a:lnTo>
                  <a:lnTo>
                    <a:pt x="6946443" y="10092296"/>
                  </a:lnTo>
                  <a:lnTo>
                    <a:pt x="6955968" y="10092296"/>
                  </a:lnTo>
                  <a:lnTo>
                    <a:pt x="6955968" y="10082771"/>
                  </a:lnTo>
                  <a:lnTo>
                    <a:pt x="6955968" y="10054184"/>
                  </a:lnTo>
                  <a:close/>
                </a:path>
                <a:path w="6956425" h="10092690">
                  <a:moveTo>
                    <a:pt x="6955968" y="0"/>
                  </a:moveTo>
                  <a:lnTo>
                    <a:pt x="6955968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0" y="38112"/>
                  </a:lnTo>
                  <a:lnTo>
                    <a:pt x="19062" y="38112"/>
                  </a:lnTo>
                  <a:lnTo>
                    <a:pt x="19062" y="19050"/>
                  </a:lnTo>
                  <a:lnTo>
                    <a:pt x="38112" y="19050"/>
                  </a:lnTo>
                  <a:lnTo>
                    <a:pt x="6917855" y="19050"/>
                  </a:lnTo>
                  <a:lnTo>
                    <a:pt x="6946443" y="19050"/>
                  </a:lnTo>
                  <a:lnTo>
                    <a:pt x="6946443" y="38112"/>
                  </a:lnTo>
                  <a:lnTo>
                    <a:pt x="6955968" y="38112"/>
                  </a:lnTo>
                  <a:lnTo>
                    <a:pt x="6955968" y="19050"/>
                  </a:lnTo>
                  <a:lnTo>
                    <a:pt x="6955968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3" name="Graphic 4">
              <a:extLst>
                <a:ext uri="{FF2B5EF4-FFF2-40B4-BE49-F238E27FC236}">
                  <a16:creationId xmlns:a16="http://schemas.microsoft.com/office/drawing/2014/main" id="{611926DE-860D-3DB8-9DE1-0B36030D4AD8}"/>
                </a:ext>
              </a:extLst>
            </p:cNvPr>
            <p:cNvSpPr/>
            <p:nvPr/>
          </p:nvSpPr>
          <p:spPr>
            <a:xfrm>
              <a:off x="674171" y="8844493"/>
              <a:ext cx="5735955" cy="19685"/>
            </a:xfrm>
            <a:custGeom>
              <a:avLst/>
              <a:gdLst/>
              <a:ahLst/>
              <a:cxnLst/>
              <a:rect l="l" t="t" r="r" b="b"/>
              <a:pathLst>
                <a:path w="5735955" h="19685">
                  <a:moveTo>
                    <a:pt x="5735752" y="0"/>
                  </a:moveTo>
                  <a:lnTo>
                    <a:pt x="0" y="0"/>
                  </a:lnTo>
                  <a:lnTo>
                    <a:pt x="0" y="19126"/>
                  </a:lnTo>
                  <a:lnTo>
                    <a:pt x="5735752" y="19126"/>
                  </a:lnTo>
                  <a:lnTo>
                    <a:pt x="573575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pic>
        <p:nvPicPr>
          <p:cNvPr id="2049" name="Image 5">
            <a:extLst>
              <a:ext uri="{FF2B5EF4-FFF2-40B4-BE49-F238E27FC236}">
                <a16:creationId xmlns:a16="http://schemas.microsoft.com/office/drawing/2014/main" id="{1D470CD1-E1A3-B6ED-2F2F-A0262FAE1DFC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850" y="891381"/>
            <a:ext cx="1513452" cy="151526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576C3C76-4163-8D01-E6A0-3B3FB89C0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840180"/>
            <a:ext cx="5061530" cy="5078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6070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Babu</a:t>
            </a: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rgbClr val="06070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Banarasi Das University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75698D5F-F347-8FD9-0296-17975745B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70" y="-1108"/>
            <a:ext cx="7288232" cy="527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D64A6A3E-8BBD-B9D4-E7D3-33C0E36B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59" y="2727124"/>
            <a:ext cx="6968179" cy="577081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Case Study</a:t>
            </a: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on</a:t>
            </a: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Telecom Communication Using CHAID Decision Tree Model in IBM SPSS Modeler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800" b="1" dirty="0"/>
              <a:t>SUBMITTED TO:	                                        SUBMITTED BY: </a:t>
            </a:r>
            <a:endParaRPr lang="en-IN" sz="1800" dirty="0"/>
          </a:p>
          <a:p>
            <a:r>
              <a:rPr lang="en-US" sz="1800" b="1" dirty="0"/>
              <a:t> </a:t>
            </a:r>
            <a:r>
              <a:rPr lang="en-US" sz="1800" b="1" dirty="0" err="1"/>
              <a:t>Mr.Vikas</a:t>
            </a:r>
            <a:r>
              <a:rPr lang="en-US" sz="1800" b="1" dirty="0"/>
              <a:t> Sir                                                </a:t>
            </a:r>
            <a:r>
              <a:rPr lang="en-US" sz="1800" b="1" dirty="0" err="1"/>
              <a:t>Name:Aashika</a:t>
            </a:r>
            <a:endParaRPr lang="en-US" sz="1800" b="1" dirty="0"/>
          </a:p>
          <a:p>
            <a:r>
              <a:rPr lang="en-US" b="1" dirty="0"/>
              <a:t>                                                                                 Arbab</a:t>
            </a:r>
          </a:p>
          <a:p>
            <a:r>
              <a:rPr lang="en-US" sz="1800" b="1" dirty="0"/>
              <a:t>                                                                                 Aishwarya</a:t>
            </a:r>
            <a:endParaRPr lang="en-IN" sz="1800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7900" y="977900"/>
            <a:ext cx="5806440" cy="798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indent="-19748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10185" algn="l"/>
              </a:tabLst>
            </a:pPr>
            <a:r>
              <a:rPr sz="1400" b="1" spc="-10" dirty="0">
                <a:latin typeface="Arial"/>
                <a:cs typeface="Arial"/>
              </a:rPr>
              <a:t>Introduction</a:t>
            </a:r>
            <a:endParaRPr sz="1400">
              <a:latin typeface="Arial"/>
              <a:cs typeface="Arial"/>
            </a:endParaRPr>
          </a:p>
          <a:p>
            <a:pPr marL="12700" marR="116839">
              <a:lnSpc>
                <a:spcPct val="100000"/>
              </a:lnSpc>
              <a:spcBef>
                <a:spcPts val="720"/>
              </a:spcBef>
            </a:pPr>
            <a:r>
              <a:rPr sz="1000" dirty="0">
                <a:latin typeface="Arial MT"/>
                <a:cs typeface="Arial MT"/>
              </a:rPr>
              <a:t>The purpose of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this project is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 build a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complete fraud detection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system using 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C5.0 decision </a:t>
            </a:r>
            <a:r>
              <a:rPr sz="1000" spc="-20" dirty="0">
                <a:latin typeface="Arial MT"/>
                <a:cs typeface="Arial MT"/>
              </a:rPr>
              <a:t>tree </a:t>
            </a:r>
            <a:r>
              <a:rPr sz="1000" dirty="0">
                <a:latin typeface="Arial MT"/>
                <a:cs typeface="Arial MT"/>
              </a:rPr>
              <a:t>algorithm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inside IBM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SPSS Modeler.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Fraud detection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is a critical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application in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telecom, banking,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and </a:t>
            </a:r>
            <a:r>
              <a:rPr sz="1000" dirty="0">
                <a:latin typeface="Arial MT"/>
                <a:cs typeface="Arial MT"/>
              </a:rPr>
              <a:t>online transactions.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This project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demonstrates how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 prepare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data, partition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it,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build a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predictive </a:t>
            </a:r>
            <a:r>
              <a:rPr sz="1000" dirty="0">
                <a:latin typeface="Arial MT"/>
                <a:cs typeface="Arial MT"/>
              </a:rPr>
              <a:t>model, and evaluate its performance using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confusion matrix, ROC curve, accuracy, and gains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charts.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000">
              <a:latin typeface="Arial MT"/>
              <a:cs typeface="Arial MT"/>
            </a:endParaRPr>
          </a:p>
          <a:p>
            <a:pPr marL="210185" indent="-197485">
              <a:lnSpc>
                <a:spcPct val="100000"/>
              </a:lnSpc>
              <a:buAutoNum type="arabicPeriod" startAt="2"/>
              <a:tabLst>
                <a:tab pos="210185" algn="l"/>
              </a:tabLst>
            </a:pPr>
            <a:r>
              <a:rPr sz="1400" b="1" dirty="0">
                <a:latin typeface="Arial"/>
                <a:cs typeface="Arial"/>
              </a:rPr>
              <a:t>Step–by–Step </a:t>
            </a:r>
            <a:r>
              <a:rPr sz="1400" b="1" spc="-10" dirty="0">
                <a:latin typeface="Arial"/>
                <a:cs typeface="Arial"/>
              </a:rPr>
              <a:t>Workflow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000" b="1" dirty="0">
                <a:latin typeface="Arial"/>
                <a:cs typeface="Arial"/>
              </a:rPr>
              <a:t>Step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1: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Importing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the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Dataset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latin typeface="Arial MT"/>
                <a:cs typeface="Arial MT"/>
              </a:rPr>
              <a:t>The dataset 'telco x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customer data.xlsx' was imported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into SPSS Modeler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using the Var. File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node. </a:t>
            </a:r>
            <a:r>
              <a:rPr sz="1000" spc="-25" dirty="0">
                <a:latin typeface="Arial MT"/>
                <a:cs typeface="Arial MT"/>
              </a:rPr>
              <a:t>The </a:t>
            </a:r>
            <a:r>
              <a:rPr sz="1000" dirty="0">
                <a:latin typeface="Arial MT"/>
                <a:cs typeface="Arial MT"/>
              </a:rPr>
              <a:t>Preview function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was used to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confirm accurate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loading 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field </a:t>
            </a:r>
            <a:r>
              <a:rPr sz="1000" spc="-10" dirty="0">
                <a:latin typeface="Arial MT"/>
                <a:cs typeface="Arial MT"/>
              </a:rPr>
              <a:t>detection.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Step 2: Type Node </a:t>
            </a:r>
            <a:r>
              <a:rPr sz="1000" b="1" spc="-10" dirty="0">
                <a:latin typeface="Arial"/>
                <a:cs typeface="Arial"/>
              </a:rPr>
              <a:t>Configuration</a:t>
            </a:r>
            <a:endParaRPr sz="1000">
              <a:latin typeface="Arial"/>
              <a:cs typeface="Arial"/>
            </a:endParaRPr>
          </a:p>
          <a:p>
            <a:pPr marL="12700" marR="53975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latin typeface="Arial MT"/>
                <a:cs typeface="Arial MT"/>
              </a:rPr>
              <a:t>The Type node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was used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 assign correct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roles. 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target variable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'is_fraud' was assigned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as a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Flag </a:t>
            </a:r>
            <a:r>
              <a:rPr sz="1000" dirty="0">
                <a:latin typeface="Arial MT"/>
                <a:cs typeface="Arial MT"/>
              </a:rPr>
              <a:t>(Target), 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all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other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fields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were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kept as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Input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fields.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Step 3: Partitioning the Dataset (70/30 </a:t>
            </a:r>
            <a:r>
              <a:rPr sz="1000" b="1" spc="-10" dirty="0">
                <a:latin typeface="Arial"/>
                <a:cs typeface="Arial"/>
              </a:rPr>
              <a:t>Split)</a:t>
            </a:r>
            <a:endParaRPr sz="1000">
              <a:latin typeface="Arial"/>
              <a:cs typeface="Arial"/>
            </a:endParaRPr>
          </a:p>
          <a:p>
            <a:pPr marL="12700" marR="172085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latin typeface="Arial MT"/>
                <a:cs typeface="Arial MT"/>
              </a:rPr>
              <a:t>A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Partition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node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was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applied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divide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dataset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into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70%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training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data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30%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testing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data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using </a:t>
            </a:r>
            <a:r>
              <a:rPr sz="1000" dirty="0">
                <a:latin typeface="Arial MT"/>
                <a:cs typeface="Arial MT"/>
              </a:rPr>
              <a:t>system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values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1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2.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Step 4: Creating Training and Testing Select </a:t>
            </a:r>
            <a:r>
              <a:rPr sz="1000" b="1" spc="-10" dirty="0">
                <a:latin typeface="Arial"/>
                <a:cs typeface="Arial"/>
              </a:rPr>
              <a:t>Nodes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latin typeface="Arial MT"/>
                <a:cs typeface="Arial MT"/>
              </a:rPr>
              <a:t>Two Select nodes were </a:t>
            </a:r>
            <a:r>
              <a:rPr sz="1000" spc="-10" dirty="0">
                <a:latin typeface="Arial MT"/>
                <a:cs typeface="Arial MT"/>
              </a:rPr>
              <a:t>created:</a:t>
            </a:r>
            <a:endParaRPr sz="100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000" dirty="0">
                <a:latin typeface="Arial MT"/>
                <a:cs typeface="Arial MT"/>
              </a:rPr>
              <a:t>Training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Node: Condition set as $PARTITION =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000" dirty="0">
                <a:latin typeface="Arial MT"/>
                <a:cs typeface="Arial MT"/>
              </a:rPr>
              <a:t>Testing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Node: Condition set as $PARTITION =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Arial MT"/>
                <a:cs typeface="Arial MT"/>
              </a:rPr>
              <a:t>This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ensures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that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model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trained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only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training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data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evaluated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unseen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testing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data.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Step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5: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Building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the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C5.0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  <a:p>
            <a:pPr marL="12700" marR="194310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latin typeface="Arial MT"/>
                <a:cs typeface="Arial MT"/>
              </a:rPr>
              <a:t>The C5.0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decision tree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algorithm was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selected.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 training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Select node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was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connected to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 </a:t>
            </a:r>
            <a:r>
              <a:rPr sz="1000" spc="-20" dirty="0">
                <a:latin typeface="Arial MT"/>
                <a:cs typeface="Arial MT"/>
              </a:rPr>
              <a:t>C5.0 </a:t>
            </a:r>
            <a:r>
              <a:rPr sz="1000" dirty="0">
                <a:latin typeface="Arial MT"/>
                <a:cs typeface="Arial MT"/>
              </a:rPr>
              <a:t>node.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target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variable was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set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'is_fraud', 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prediction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field such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'fraud_prediction'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was </a:t>
            </a:r>
            <a:r>
              <a:rPr sz="1000" spc="-10" dirty="0">
                <a:latin typeface="Arial MT"/>
                <a:cs typeface="Arial MT"/>
              </a:rPr>
              <a:t>configured.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Step 6: Evaluating the </a:t>
            </a:r>
            <a:r>
              <a:rPr sz="1000" b="1" spc="-10" dirty="0"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latin typeface="Arial MT"/>
                <a:cs typeface="Arial MT"/>
              </a:rPr>
              <a:t>The Evaluate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node was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connected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using two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inputs:</a:t>
            </a:r>
            <a:endParaRPr sz="1000">
              <a:latin typeface="Arial MT"/>
              <a:cs typeface="Arial MT"/>
            </a:endParaRPr>
          </a:p>
          <a:p>
            <a:pPr marL="153035" indent="-140335">
              <a:lnSpc>
                <a:spcPct val="100000"/>
              </a:lnSpc>
              <a:buAutoNum type="arabicPeriod"/>
              <a:tabLst>
                <a:tab pos="153035" algn="l"/>
              </a:tabLst>
            </a:pPr>
            <a:r>
              <a:rPr sz="1000" dirty="0">
                <a:latin typeface="Arial MT"/>
                <a:cs typeface="Arial MT"/>
              </a:rPr>
              <a:t>The C5.0 model </a:t>
            </a:r>
            <a:r>
              <a:rPr sz="1000" spc="-10" dirty="0">
                <a:latin typeface="Arial MT"/>
                <a:cs typeface="Arial MT"/>
              </a:rPr>
              <a:t>output</a:t>
            </a:r>
            <a:endParaRPr sz="1000">
              <a:latin typeface="Arial MT"/>
              <a:cs typeface="Arial MT"/>
            </a:endParaRPr>
          </a:p>
          <a:p>
            <a:pPr marL="153035" indent="-140335">
              <a:lnSpc>
                <a:spcPct val="100000"/>
              </a:lnSpc>
              <a:buAutoNum type="arabicPeriod"/>
              <a:tabLst>
                <a:tab pos="153035" algn="l"/>
              </a:tabLst>
            </a:pPr>
            <a:r>
              <a:rPr sz="1000" dirty="0">
                <a:latin typeface="Arial MT"/>
                <a:cs typeface="Arial MT"/>
              </a:rPr>
              <a:t>The Testing Select </a:t>
            </a:r>
            <a:r>
              <a:rPr sz="1000" spc="-20" dirty="0">
                <a:latin typeface="Arial MT"/>
                <a:cs typeface="Arial MT"/>
              </a:rPr>
              <a:t>node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evaluation produced accuracy, confusion matrix, ROC curve, lift chart, and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gains </a:t>
            </a:r>
            <a:r>
              <a:rPr sz="1000" spc="-10" dirty="0">
                <a:latin typeface="Arial MT"/>
                <a:cs typeface="Arial MT"/>
              </a:rPr>
              <a:t>chart.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Step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7: Interpretation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of </a:t>
            </a:r>
            <a:r>
              <a:rPr sz="1000" b="1" spc="-10" dirty="0">
                <a:latin typeface="Arial"/>
                <a:cs typeface="Arial"/>
              </a:rPr>
              <a:t>Results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latin typeface="Arial MT"/>
                <a:cs typeface="Arial MT"/>
              </a:rPr>
              <a:t>Model results were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examined to </a:t>
            </a:r>
            <a:r>
              <a:rPr sz="1000" spc="-10" dirty="0">
                <a:latin typeface="Arial MT"/>
                <a:cs typeface="Arial MT"/>
              </a:rPr>
              <a:t>understand:</a:t>
            </a:r>
            <a:endParaRPr sz="100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000" dirty="0">
                <a:latin typeface="Arial MT"/>
                <a:cs typeface="Arial MT"/>
              </a:rPr>
              <a:t>How accurately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 model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predicts </a:t>
            </a:r>
            <a:r>
              <a:rPr sz="1000" spc="-10" dirty="0">
                <a:latin typeface="Arial MT"/>
                <a:cs typeface="Arial MT"/>
              </a:rPr>
              <a:t>fraud</a:t>
            </a:r>
            <a:endParaRPr sz="100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000" dirty="0">
                <a:latin typeface="Arial MT"/>
                <a:cs typeface="Arial MT"/>
              </a:rPr>
              <a:t>True Positive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 False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Negative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performance</a:t>
            </a:r>
            <a:endParaRPr sz="100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000" dirty="0">
                <a:latin typeface="Arial MT"/>
                <a:cs typeface="Arial MT"/>
              </a:rPr>
              <a:t>ROC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AUC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score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measure</a:t>
            </a:r>
            <a:r>
              <a:rPr sz="1000" spc="-10" dirty="0">
                <a:latin typeface="Arial MT"/>
                <a:cs typeface="Arial MT"/>
              </a:rPr>
              <a:t> discrimination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0"/>
            <a:ext cx="800100" cy="8763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7900" y="1130300"/>
            <a:ext cx="32118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indent="-79375">
              <a:lnSpc>
                <a:spcPct val="100000"/>
              </a:lnSpc>
              <a:spcBef>
                <a:spcPts val="100"/>
              </a:spcBef>
              <a:buChar char="•"/>
              <a:tabLst>
                <a:tab pos="92075" algn="l"/>
              </a:tabLst>
            </a:pPr>
            <a:r>
              <a:rPr sz="1000" dirty="0">
                <a:latin typeface="Arial MT"/>
                <a:cs typeface="Arial MT"/>
              </a:rPr>
              <a:t>Gains 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Lift to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assess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early fraud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detection </a:t>
            </a:r>
            <a:r>
              <a:rPr sz="1000" spc="-10" dirty="0">
                <a:latin typeface="Arial MT"/>
                <a:cs typeface="Arial MT"/>
              </a:rPr>
              <a:t>efficiency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00" y="876300"/>
            <a:ext cx="5232400" cy="12573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779061-321E-6ECB-1BEC-BA234701CA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43212"/>
            <a:ext cx="7772400" cy="437197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7900" y="977900"/>
            <a:ext cx="5807075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indent="-197485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210185" algn="l"/>
              </a:tabLst>
            </a:pPr>
            <a:r>
              <a:rPr sz="1400" b="1" dirty="0">
                <a:latin typeface="Arial"/>
                <a:cs typeface="Arial"/>
              </a:rPr>
              <a:t>Summary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of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Findings</a:t>
            </a:r>
            <a:endParaRPr sz="1400">
              <a:latin typeface="Arial"/>
              <a:cs typeface="Arial"/>
            </a:endParaRPr>
          </a:p>
          <a:p>
            <a:pPr marL="12700" marR="26670">
              <a:lnSpc>
                <a:spcPct val="100000"/>
              </a:lnSpc>
              <a:spcBef>
                <a:spcPts val="720"/>
              </a:spcBef>
            </a:pPr>
            <a:r>
              <a:rPr sz="1000" dirty="0">
                <a:latin typeface="Arial MT"/>
                <a:cs typeface="Arial MT"/>
              </a:rPr>
              <a:t>The C5.0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model was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successfully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trained 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telecom dataset.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70/30 train-test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split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allows </a:t>
            </a:r>
            <a:r>
              <a:rPr sz="1000" spc="-25" dirty="0">
                <a:latin typeface="Arial MT"/>
                <a:cs typeface="Arial MT"/>
              </a:rPr>
              <a:t>the </a:t>
            </a:r>
            <a:r>
              <a:rPr sz="1000" dirty="0">
                <a:latin typeface="Arial MT"/>
                <a:cs typeface="Arial MT"/>
              </a:rPr>
              <a:t>model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learn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patterns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training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data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evaluated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on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unseen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records.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evaluation </a:t>
            </a:r>
            <a:r>
              <a:rPr sz="1000" dirty="0">
                <a:latin typeface="Arial MT"/>
                <a:cs typeface="Arial MT"/>
              </a:rPr>
              <a:t>process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provided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important metrics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such as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accuracy,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precision, recall,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 ROC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curve.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These </a:t>
            </a:r>
            <a:r>
              <a:rPr sz="1000" spc="-10" dirty="0">
                <a:latin typeface="Arial MT"/>
                <a:cs typeface="Arial MT"/>
              </a:rPr>
              <a:t>metrics </a:t>
            </a:r>
            <a:r>
              <a:rPr sz="1000" dirty="0">
                <a:latin typeface="Arial MT"/>
                <a:cs typeface="Arial MT"/>
              </a:rPr>
              <a:t>help determine the model’s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real-world effectiveness in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identifying fraudulent </a:t>
            </a:r>
            <a:r>
              <a:rPr sz="1000" spc="-10" dirty="0">
                <a:latin typeface="Arial MT"/>
                <a:cs typeface="Arial MT"/>
              </a:rPr>
              <a:t>activity.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000">
              <a:latin typeface="Arial MT"/>
              <a:cs typeface="Arial MT"/>
            </a:endParaRPr>
          </a:p>
          <a:p>
            <a:pPr marL="210185" indent="-197485">
              <a:lnSpc>
                <a:spcPct val="100000"/>
              </a:lnSpc>
              <a:buAutoNum type="arabicPeriod" startAt="4"/>
              <a:tabLst>
                <a:tab pos="210185" algn="l"/>
              </a:tabLst>
            </a:pPr>
            <a:r>
              <a:rPr sz="1400" b="1" spc="-10" dirty="0">
                <a:latin typeface="Arial"/>
                <a:cs typeface="Arial"/>
              </a:rPr>
              <a:t>Conclusion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720"/>
              </a:spcBef>
            </a:pPr>
            <a:r>
              <a:rPr sz="1000" dirty="0">
                <a:latin typeface="Arial MT"/>
                <a:cs typeface="Arial MT"/>
              </a:rPr>
              <a:t>Fraud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detection is a crucial component in modern business analytics and customer risk </a:t>
            </a:r>
            <a:r>
              <a:rPr sz="1000" spc="-10" dirty="0">
                <a:latin typeface="Arial MT"/>
                <a:cs typeface="Arial MT"/>
              </a:rPr>
              <a:t>management. </a:t>
            </a:r>
            <a:r>
              <a:rPr sz="1000" dirty="0">
                <a:latin typeface="Arial MT"/>
                <a:cs typeface="Arial MT"/>
              </a:rPr>
              <a:t>Using IBM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SPSS Modeler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 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C5.0 algorithm,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this project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successfully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demonstrated a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complete </a:t>
            </a:r>
            <a:r>
              <a:rPr sz="1000" dirty="0">
                <a:latin typeface="Arial MT"/>
                <a:cs typeface="Arial MT"/>
              </a:rPr>
              <a:t>workflow—from data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import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 model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evaluation.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 model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provides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actionable insights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can </a:t>
            </a:r>
            <a:r>
              <a:rPr sz="1000" spc="-25" dirty="0">
                <a:latin typeface="Arial MT"/>
                <a:cs typeface="Arial MT"/>
              </a:rPr>
              <a:t>be </a:t>
            </a:r>
            <a:r>
              <a:rPr sz="1000" dirty="0">
                <a:latin typeface="Arial MT"/>
                <a:cs typeface="Arial MT"/>
              </a:rPr>
              <a:t>further improved by feature engineering, balancing techniques, or ensemble models. This workflow </a:t>
            </a:r>
            <a:r>
              <a:rPr sz="1000" spc="-25" dirty="0">
                <a:latin typeface="Arial MT"/>
                <a:cs typeface="Arial MT"/>
              </a:rPr>
              <a:t>can </a:t>
            </a:r>
            <a:r>
              <a:rPr sz="1000" dirty="0">
                <a:latin typeface="Arial MT"/>
                <a:cs typeface="Arial MT"/>
              </a:rPr>
              <a:t>also be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adapted for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churn prediction,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credit risk,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or any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classification </a:t>
            </a:r>
            <a:r>
              <a:rPr sz="1000" spc="-10" dirty="0">
                <a:latin typeface="Arial MT"/>
                <a:cs typeface="Arial MT"/>
              </a:rPr>
              <a:t>problem.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00" i="1" dirty="0">
                <a:latin typeface="Arial"/>
                <a:cs typeface="Arial"/>
              </a:rPr>
              <a:t>End of</a:t>
            </a:r>
            <a:r>
              <a:rPr sz="1000" i="1" spc="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Report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3492500"/>
            <a:ext cx="2514600" cy="6985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600</Words>
  <Application>Microsoft Office PowerPoint</Application>
  <PresentationFormat>Custom</PresentationFormat>
  <Paragraphs>85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(anonymous)</dc:title>
  <dc:subject>(unspecified)</dc:subject>
  <dc:creator>(anonymous)</dc:creator>
  <cp:lastModifiedBy>Aashika Srivastava</cp:lastModifiedBy>
  <cp:revision>2</cp:revision>
  <dcterms:created xsi:type="dcterms:W3CDTF">2025-11-18T13:38:00Z</dcterms:created>
  <dcterms:modified xsi:type="dcterms:W3CDTF">2025-11-18T13:04:14Z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2025-11-18T00:00:00Z</vt:filetime>
  </property>
  <property fmtid="{D5CDD505-2E9C-101B-9397-08002B2CF9AE}" pid="3" name="Creator">
    <vt:lpwstr>(unspecified)</vt:lpwstr>
  </property>
  <property fmtid="{D5CDD505-2E9C-101B-9397-08002B2CF9AE}" pid="4" name="LastSaved">
    <vt:filetime>2025-11-18T00:00:00Z</vt:filetime>
  </property>
  <property fmtid="{D5CDD505-2E9C-101B-9397-08002B2CF9AE}" pid="5" name="Producer">
    <vt:lpwstr>iOS Version 26.0 (Build 23A5336a) Quartz PDFContext, AppendMode 1.1</vt:lpwstr>
  </property>
</Properties>
</file>